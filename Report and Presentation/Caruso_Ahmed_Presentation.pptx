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ab94e0746_1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ab94e0746_1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Tarif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71b1e9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71b1e9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b94e0746_1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b94e0746_1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ab94e074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ab94e074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b94e0746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ab94e0746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71b1e92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71b1e92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Vincent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bb9d8c53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bb9d8c53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Vincent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b9d8c53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bb9d8c53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Vincent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ab94e0746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ab94e0746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Vincent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c71b1e92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c71b1e92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Tarif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c71b1e92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c71b1e92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c71b1e92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c71b1e92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71b1e92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71b1e9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c71b1e92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c71b1e92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Vincent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71b1e92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c71b1e92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c71b1e92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c71b1e92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Tarif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c71b1e92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c71b1e92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Vincent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c71b1e92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c71b1e92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Vincent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c71b1e92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c71b1e92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Vincent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9e075bf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9e075bf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ata.cdc.gov/Nutrition-Physical-Activity-and-Obesity/Nutrition-Physical-Activity-and-Obesity-Behavioral/hn4x-zwk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511878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Comparisons and Socioeconomic Predictors of Obesity in the US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42250" y="4523450"/>
            <a:ext cx="8521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D9D9D9"/>
                </a:solidFill>
              </a:rPr>
              <a:t>Tarif Ahmed  Vincent Caruso</a:t>
            </a:r>
            <a:endParaRPr sz="21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problem statement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381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Obesity is a huge issue in America that is only getting larger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●"/>
            </a:pPr>
            <a:r>
              <a:rPr lang="en">
                <a:solidFill>
                  <a:srgbClr val="7F7F7F"/>
                </a:solidFill>
              </a:rPr>
              <a:t>It raises the likelihood of chronic illnesses and premature mortality</a:t>
            </a:r>
            <a:endParaRPr>
              <a:solidFill>
                <a:srgbClr val="7F7F7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US</a:t>
            </a:r>
            <a:r>
              <a:rPr lang="en"/>
              <a:t> consistently ranks in the top 10 most </a:t>
            </a:r>
            <a:r>
              <a:rPr lang="en"/>
              <a:t>obese</a:t>
            </a:r>
            <a:r>
              <a:rPr lang="en"/>
              <a:t> countries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850" y="1256850"/>
            <a:ext cx="4449100" cy="314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Statistics (20 years)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348975"/>
            <a:ext cx="3979200" cy="32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Obesity also causes strain to the healthcare system and raises the medical costs for those afflicted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Significant disparities are observed based on race/ethnicity, education, and age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183000" y="1152475"/>
            <a:ext cx="146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30.5%</a:t>
            </a:r>
            <a:endParaRPr sz="31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430400" y="1152475"/>
            <a:ext cx="140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41.9%</a:t>
            </a:r>
            <a:endParaRPr sz="31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390300" y="2734650"/>
            <a:ext cx="1046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4.7%</a:t>
            </a:r>
            <a:endParaRPr sz="31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536150" y="2734650"/>
            <a:ext cx="1190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9.2%</a:t>
            </a:r>
            <a:endParaRPr sz="31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466400" y="2931138"/>
            <a:ext cx="9576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466400" y="1348963"/>
            <a:ext cx="9576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133625" y="1954736"/>
            <a:ext cx="402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Increase in general obesity </a:t>
            </a: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prevalence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183000" y="3534325"/>
            <a:ext cx="37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Increase in severe obesity </a:t>
            </a: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prevalence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Obesity is often examined on a country-level scale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examining obesity at the international level, we must overcome the confound that other countries’ obesity rates are also fluctuating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combat obesity, we first need to understand which regions and demographics are most affected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analysis examines obesity patterns between 2011 and 2023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analysis will unpack regional and demographic differences in obesity and examine how rates for each group were affected by COVID-19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Background and Reliability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49250" y="1272972"/>
            <a:ext cx="50118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942"/>
              <a:t>Datasource</a:t>
            </a:r>
            <a:r>
              <a:rPr lang="en" sz="1942"/>
              <a:t>: Center for </a:t>
            </a:r>
            <a:r>
              <a:rPr lang="en" sz="1942"/>
              <a:t>Disease</a:t>
            </a:r>
            <a:r>
              <a:rPr lang="en" sz="1942"/>
              <a:t> control and prevention (CDC)</a:t>
            </a:r>
            <a:endParaRPr sz="1942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942"/>
              <a:t>Dataset</a:t>
            </a:r>
            <a:r>
              <a:rPr lang="en" sz="1942"/>
              <a:t>: The</a:t>
            </a:r>
            <a:r>
              <a:rPr lang="en" sz="1942"/>
              <a:t> Nutrition, Physical Activity, and Obesity - Behavioral Risk Factor Surveillance System (BRFSS)</a:t>
            </a:r>
            <a:endParaRPr sz="1942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42"/>
              <a:t>Outlines obesity trends across years, states, and demographic groups</a:t>
            </a:r>
            <a:endParaRPr sz="1942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42"/>
              <a:t>Each row represents a aggregated statistical estimate from the CDC’s BRFSS</a:t>
            </a:r>
            <a:endParaRPr sz="1942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942"/>
              <a:t>Datasize: </a:t>
            </a:r>
            <a:r>
              <a:rPr lang="en" sz="1942"/>
              <a:t>106K records, 33 variables</a:t>
            </a:r>
            <a:endParaRPr sz="1942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942"/>
              <a:t>Methodology</a:t>
            </a:r>
            <a:r>
              <a:rPr lang="en" sz="1942"/>
              <a:t>: P</a:t>
            </a:r>
            <a:r>
              <a:rPr lang="en" sz="1942"/>
              <a:t>eer reviewed analysis</a:t>
            </a:r>
            <a:endParaRPr sz="1942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942"/>
              <a:t>Key update: </a:t>
            </a:r>
            <a:r>
              <a:rPr lang="en" sz="1942"/>
              <a:t>Metrics was refined to align with current physical activity guidelines</a:t>
            </a:r>
            <a:endParaRPr sz="1942"/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4137" l="9040" r="8695" t="3908"/>
          <a:stretch/>
        </p:blipFill>
        <p:spPr>
          <a:xfrm>
            <a:off x="5356675" y="1648182"/>
            <a:ext cx="3419725" cy="215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Data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5981100" cy="3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Utilized four key variables: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Temporal</a:t>
            </a:r>
            <a:r>
              <a:rPr lang="en"/>
              <a:t>: YearStart, YearEnd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Geographic: </a:t>
            </a:r>
            <a:r>
              <a:rPr lang="en"/>
              <a:t>LocationDesc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Health Metric: </a:t>
            </a:r>
            <a:r>
              <a:rPr lang="en"/>
              <a:t> Questions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Systematically removed records with NULL values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Framework: Focus on three interval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2011-2013, 2016-2018, 2021-2023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row represents a survey aggregate assessing the proportion of 18+ respondents who are obese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Represented as a proportion alongside the sample size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26611" r="25144" t="999"/>
          <a:stretch/>
        </p:blipFill>
        <p:spPr>
          <a:xfrm>
            <a:off x="5920700" y="1152475"/>
            <a:ext cx="2911598" cy="33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COVID - 19 Context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4881300" cy="3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Char char="●"/>
            </a:pPr>
            <a:r>
              <a:rPr lang="en"/>
              <a:t>To account for the impact of COVID-19, we analyzed three different timeframes</a:t>
            </a:r>
            <a:endParaRPr/>
          </a:p>
          <a:p>
            <a:pPr indent="-28797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Char char="●"/>
            </a:pPr>
            <a:r>
              <a:rPr lang="en"/>
              <a:t>Data collection stopped during the COVID-19 pandemic lockdowns, providing unique statistical opportunities and challenges</a:t>
            </a:r>
            <a:endParaRPr/>
          </a:p>
          <a:p>
            <a:pPr indent="-28797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Char char="○"/>
            </a:pPr>
            <a:r>
              <a:rPr lang="en"/>
              <a:t>It prevents us from examining strictly temporal changes between time points</a:t>
            </a:r>
            <a:endParaRPr/>
          </a:p>
          <a:p>
            <a:pPr indent="-28797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Char char="○"/>
            </a:pPr>
            <a:r>
              <a:rPr lang="en"/>
              <a:t>It allows us to compare the usual rates (early to middle) with the changes leading into COVID lockdowns (middle to late)</a:t>
            </a:r>
            <a:endParaRPr/>
          </a:p>
          <a:p>
            <a:pPr indent="-28797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Char char="●"/>
            </a:pPr>
            <a:r>
              <a:rPr lang="en"/>
              <a:t>Enabled us to observe the deviation caused by COVID-19 lockdown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17019" r="0" t="0"/>
          <a:stretch/>
        </p:blipFill>
        <p:spPr>
          <a:xfrm>
            <a:off x="5458200" y="1434163"/>
            <a:ext cx="3374099" cy="227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Supplementary Analysis columns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9012" y="1068425"/>
            <a:ext cx="4070286" cy="3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Limitations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dataset robustly documents the information on when the aggregates were collected and their location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Demographic variables have null values for roughly 70-90% of rows 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dataset contains multiple questions on which </a:t>
            </a:r>
            <a:r>
              <a:rPr lang="en" sz="1900"/>
              <a:t>aggregates</a:t>
            </a:r>
            <a:r>
              <a:rPr lang="en" sz="1900"/>
              <a:t> are based on, and our analyses are based only on the question of obesity prevalence</a:t>
            </a:r>
            <a:endParaRPr sz="19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leaves us with 26200 observations for each time point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Hypothesis Testing Framework:</a:t>
            </a:r>
            <a:r>
              <a:rPr lang="en"/>
              <a:t> Used hypothesis testing to compare the increase in obesity over our pre-COVID and COVID-era intervals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Bootstrap Resampling Methodology</a:t>
            </a:r>
            <a:r>
              <a:rPr lang="en"/>
              <a:t>: Employ bootstrap techniques to utilize the aggregated nature of our dataset and overcome sampling disparities across states, ensuring robust statistical inference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Regional Trend Analysis</a:t>
            </a:r>
            <a:r>
              <a:rPr lang="en"/>
              <a:t>: Conduct geographic analysis to identify patterns and correlations in obesity growth across different regions of the United States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Demographic Correlation Study</a:t>
            </a:r>
            <a:r>
              <a:rPr lang="en"/>
              <a:t>: Investigate potential relationships between obesity trends and demographic variables, utilizing available stratified data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 Composition Strategy</a:t>
            </a:r>
            <a:r>
              <a:rPr lang="en"/>
              <a:t>: Leverage bootstrap methods to analyze all statistically viable demographic subgroups (representing 10-20% of dataset rows), overcoming sample size limitations in specific population segments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Variance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3963000" cy="3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>
                <a:solidFill>
                  <a:srgbClr val="434343"/>
                </a:solidFill>
              </a:rPr>
              <a:t>Every US state/territory saw an increase in obesity between the first and third </a:t>
            </a:r>
            <a:r>
              <a:rPr lang="en">
                <a:solidFill>
                  <a:srgbClr val="434343"/>
                </a:solidFill>
              </a:rPr>
              <a:t>time point</a:t>
            </a:r>
            <a:r>
              <a:rPr lang="en">
                <a:solidFill>
                  <a:srgbClr val="434343"/>
                </a:solidFill>
              </a:rPr>
              <a:t>. </a:t>
            </a:r>
            <a:endParaRPr>
              <a:solidFill>
                <a:srgbClr val="434343"/>
              </a:solidFill>
            </a:endParaRPr>
          </a:p>
          <a:p>
            <a:pPr indent="-334327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>
                <a:solidFill>
                  <a:srgbClr val="FF0000"/>
                </a:solidFill>
              </a:rPr>
              <a:t>Biggest increase</a:t>
            </a:r>
            <a:r>
              <a:rPr lang="en">
                <a:solidFill>
                  <a:srgbClr val="434343"/>
                </a:solidFill>
              </a:rPr>
              <a:t> - New mexico, South Dakota, Oklahoma Wyoming, and </a:t>
            </a:r>
            <a:r>
              <a:rPr lang="en">
                <a:solidFill>
                  <a:srgbClr val="434343"/>
                </a:solidFill>
              </a:rPr>
              <a:t>Puerto</a:t>
            </a:r>
            <a:r>
              <a:rPr lang="en">
                <a:solidFill>
                  <a:srgbClr val="434343"/>
                </a:solidFill>
              </a:rPr>
              <a:t> Rico </a:t>
            </a:r>
            <a:endParaRPr>
              <a:solidFill>
                <a:srgbClr val="434343"/>
              </a:solidFill>
            </a:endParaRPr>
          </a:p>
          <a:p>
            <a:pPr indent="-334327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">
                <a:solidFill>
                  <a:srgbClr val="4A86E8"/>
                </a:solidFill>
              </a:rPr>
              <a:t>Smallest Increase</a:t>
            </a:r>
            <a:r>
              <a:rPr lang="en">
                <a:solidFill>
                  <a:srgbClr val="434343"/>
                </a:solidFill>
              </a:rPr>
              <a:t> - DC, Michigan, Hawaii, Vermont, and California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32" name="Google Shape;132;p23" title="Screenshot 2025-12-01 at 3.10.41 PM.png"/>
          <p:cNvPicPr preferRelativeResize="0"/>
          <p:nvPr/>
        </p:nvPicPr>
        <p:blipFill rotWithShape="1">
          <a:blip r:embed="rId3">
            <a:alphaModFix/>
          </a:blip>
          <a:srcRect b="0" l="0" r="2315" t="0"/>
          <a:stretch/>
        </p:blipFill>
        <p:spPr>
          <a:xfrm>
            <a:off x="4501799" y="1068425"/>
            <a:ext cx="4360126" cy="30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Tackling COVID-19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359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Method</a:t>
            </a:r>
            <a:r>
              <a:rPr lang="en"/>
              <a:t>: Paired t-test to compare two sequential periods of obesity increase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pre-COVID</a:t>
            </a:r>
            <a:r>
              <a:rPr lang="en"/>
              <a:t>: 2011-2013 to 2016-2018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COVID lockdown</a:t>
            </a:r>
            <a:r>
              <a:rPr lang="en"/>
              <a:t>: </a:t>
            </a:r>
            <a:r>
              <a:rPr lang="en"/>
              <a:t>2016-2018 to 2021-2023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increase in mean difference between the two periods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t=2.39, p=0.021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rise in obesity was greater during COVID </a:t>
            </a:r>
            <a:endParaRPr/>
          </a:p>
        </p:txBody>
      </p:sp>
      <p:pic>
        <p:nvPicPr>
          <p:cNvPr id="139" name="Google Shape;139;p24" title="Screenshot 2025-12-01 at 3.25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750" y="1383185"/>
            <a:ext cx="4795802" cy="295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Analysis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48741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 provide a robust, nonparametric complement to the paired t-test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Method: </a:t>
            </a:r>
            <a:r>
              <a:rPr lang="en"/>
              <a:t>a bootstrap analysis was conducted on state-level difference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Difference</a:t>
            </a:r>
            <a:r>
              <a:rPr lang="en"/>
              <a:t> between COVID-era change and pre-COVID change was calculated for each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10,000 bootstrap resamples were generated by sampling these state-level differences with replacement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Results: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95% confidence intervals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two tailed p-value (</a:t>
            </a:r>
            <a:r>
              <a:rPr lang="en"/>
              <a:t>0.10, 0.96</a:t>
            </a:r>
            <a:r>
              <a:rPr b="1" lang="en"/>
              <a:t>)</a:t>
            </a:r>
            <a:endParaRPr b="1"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800" y="1792850"/>
            <a:ext cx="3646500" cy="242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COVID-19 Accelerator”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262350" y="1695475"/>
            <a:ext cx="45723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5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Non-Linear Growth:</a:t>
            </a:r>
            <a:r>
              <a:rPr lang="en" sz="165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Obesity rates did not rise at a steady pace. The average increase was significantly greater during the COVID interval (2021-2023) compared to pre-COVID.</a:t>
            </a:r>
            <a:endParaRPr sz="1650">
              <a:solidFill>
                <a:srgbClr val="33415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23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6" title="Screenshot 2025-12-01 at 3.20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975" y="1220825"/>
            <a:ext cx="4107625" cy="29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Socioeconomic Factor - Analysis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216400" cy="3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876300" marR="419100" rtl="0" algn="l">
              <a:spcBef>
                <a:spcPts val="170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●"/>
            </a:pPr>
            <a:r>
              <a:rPr b="1" lang="en" sz="1300">
                <a:solidFill>
                  <a:srgbClr val="7F7F7F"/>
                </a:solidFill>
              </a:rPr>
              <a:t>Data Source</a:t>
            </a:r>
            <a:r>
              <a:rPr lang="en" sz="1300">
                <a:solidFill>
                  <a:srgbClr val="7F7F7F"/>
                </a:solidFill>
              </a:rPr>
              <a:t>: Analyzed aggregate estimates from the BRFSS, which are sample-weighted proportions for specific subpopulations (e.g., age group, income).</a:t>
            </a:r>
            <a:endParaRPr sz="1300">
              <a:solidFill>
                <a:srgbClr val="7F7F7F"/>
              </a:solidFill>
            </a:endParaRPr>
          </a:p>
          <a:p>
            <a:pPr indent="-311150" lvl="0" marL="8763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●"/>
            </a:pPr>
            <a:r>
              <a:rPr b="1" lang="en" sz="1300">
                <a:solidFill>
                  <a:srgbClr val="7F7F7F"/>
                </a:solidFill>
              </a:rPr>
              <a:t>Analysis Steps:</a:t>
            </a:r>
            <a:endParaRPr b="1" sz="1300">
              <a:solidFill>
                <a:srgbClr val="7F7F7F"/>
              </a:solidFill>
            </a:endParaRPr>
          </a:p>
          <a:p>
            <a:pPr indent="-311150" lvl="1" marL="13335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○"/>
            </a:pPr>
            <a:r>
              <a:rPr lang="en" sz="1300">
                <a:solidFill>
                  <a:srgbClr val="7F7F7F"/>
                </a:solidFill>
              </a:rPr>
              <a:t>For each demographic group, computed a weighted mean obesity proportion for each of the three intervals (2011–2013, 2016–2018, 2021–2023), using the reported sample sizes as weights.</a:t>
            </a:r>
            <a:endParaRPr sz="1300">
              <a:solidFill>
                <a:srgbClr val="7F7F7F"/>
              </a:solidFill>
            </a:endParaRPr>
          </a:p>
          <a:p>
            <a:pPr indent="-311150" lvl="1" marL="13335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○"/>
            </a:pPr>
            <a:r>
              <a:rPr lang="en" sz="1300">
                <a:solidFill>
                  <a:srgbClr val="7F7F7F"/>
                </a:solidFill>
              </a:rPr>
              <a:t>Calculated difference scores for the changes between these intervals (early→middle and middle→late).</a:t>
            </a:r>
            <a:endParaRPr sz="1300">
              <a:solidFill>
                <a:srgbClr val="7F7F7F"/>
              </a:solidFill>
            </a:endParaRPr>
          </a:p>
          <a:p>
            <a:pPr indent="-311150" lvl="0" marL="8763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●"/>
            </a:pPr>
            <a:r>
              <a:rPr b="1" lang="en" sz="1300">
                <a:solidFill>
                  <a:srgbClr val="7F7F7F"/>
                </a:solidFill>
              </a:rPr>
              <a:t>Quantifying Uncertainty</a:t>
            </a:r>
            <a:r>
              <a:rPr lang="en" sz="1300">
                <a:solidFill>
                  <a:srgbClr val="7F7F7F"/>
                </a:solidFill>
              </a:rPr>
              <a:t>:</a:t>
            </a:r>
            <a:endParaRPr sz="1300">
              <a:solidFill>
                <a:srgbClr val="7F7F7F"/>
              </a:solidFill>
            </a:endParaRPr>
          </a:p>
          <a:p>
            <a:pPr indent="-311150" lvl="1" marL="13335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○"/>
            </a:pPr>
            <a:r>
              <a:rPr b="1" lang="en" sz="1300">
                <a:solidFill>
                  <a:srgbClr val="7F7F7F"/>
                </a:solidFill>
              </a:rPr>
              <a:t>Primary Method</a:t>
            </a:r>
            <a:r>
              <a:rPr lang="en" sz="1300">
                <a:solidFill>
                  <a:srgbClr val="7F7F7F"/>
                </a:solidFill>
              </a:rPr>
              <a:t>: Used a binomial standard-error approximation, using the sample sizes provided alongside each survey aggregate</a:t>
            </a:r>
            <a:endParaRPr sz="1300">
              <a:solidFill>
                <a:srgbClr val="7F7F7F"/>
              </a:solidFill>
            </a:endParaRPr>
          </a:p>
          <a:p>
            <a:pPr indent="-311150" lvl="1" marL="13335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○"/>
            </a:pPr>
            <a:r>
              <a:rPr b="1" lang="en" sz="1300">
                <a:solidFill>
                  <a:srgbClr val="7F7F7F"/>
                </a:solidFill>
              </a:rPr>
              <a:t>Robustness Check</a:t>
            </a:r>
            <a:r>
              <a:rPr lang="en" sz="1300">
                <a:solidFill>
                  <a:srgbClr val="7F7F7F"/>
                </a:solidFill>
              </a:rPr>
              <a:t>: Also generated nonparametric bootstrap confidence intervals by resampling aggregates within each interval.</a:t>
            </a:r>
            <a:endParaRPr sz="1300">
              <a:solidFill>
                <a:srgbClr val="7F7F7F"/>
              </a:solidFill>
            </a:endParaRPr>
          </a:p>
          <a:p>
            <a:pPr indent="-311150" lvl="0" marL="876300" marR="4191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Source Sans Pro"/>
              <a:buChar char="●"/>
            </a:pPr>
            <a:r>
              <a:rPr b="1" lang="en" sz="1300">
                <a:solidFill>
                  <a:srgbClr val="7F7F7F"/>
                </a:solidFill>
              </a:rPr>
              <a:t>Core Test</a:t>
            </a:r>
            <a:r>
              <a:rPr lang="en" sz="1300">
                <a:solidFill>
                  <a:srgbClr val="7F7F7F"/>
                </a:solidFill>
              </a:rPr>
              <a:t>: Conducted Difference-in-Differences (DiD) tests for each subgroup to determine if the change in obesity rates accelerated or slowed between the two consecutive time intervals.</a:t>
            </a:r>
            <a:endParaRPr sz="1300">
              <a:solidFill>
                <a:srgbClr val="7F7F7F"/>
              </a:solidFill>
            </a:endParaRPr>
          </a:p>
          <a:p>
            <a:pPr indent="0" lvl="0" marL="0" marR="4191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Income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39636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29"/>
              <a:t>Contrary to simple linear assumptions, the change in obesity rates varied uniquely by income brackets: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  <p:pic>
        <p:nvPicPr>
          <p:cNvPr id="166" name="Google Shape;166;p28" title="Screenshot 2025-12-01 at 3.51.25 PM.png"/>
          <p:cNvPicPr preferRelativeResize="0"/>
          <p:nvPr/>
        </p:nvPicPr>
        <p:blipFill rotWithShape="1">
          <a:blip r:embed="rId3">
            <a:alphaModFix/>
          </a:blip>
          <a:srcRect b="2959" l="3392" r="4670" t="0"/>
          <a:stretch/>
        </p:blipFill>
        <p:spPr>
          <a:xfrm>
            <a:off x="4784625" y="1344463"/>
            <a:ext cx="4241951" cy="24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 title="Screenshot 2025-12-01 at 3.52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50" y="2338525"/>
            <a:ext cx="3854299" cy="22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Age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4517400" cy="3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565"/>
              <a:t>For each age group, the weighted mean obesity of the three time time interval was computed</a:t>
            </a:r>
            <a:endParaRPr sz="156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65"/>
              <a:t>Key</a:t>
            </a:r>
            <a:r>
              <a:rPr lang="en" sz="1565"/>
              <a:t> </a:t>
            </a:r>
            <a:r>
              <a:rPr b="1" lang="en" sz="1565"/>
              <a:t>pattern</a:t>
            </a:r>
            <a:r>
              <a:rPr lang="en" sz="1565"/>
              <a:t>: younger and middle aged adults generally experienced large obesity increase </a:t>
            </a:r>
            <a:endParaRPr sz="1565"/>
          </a:p>
          <a:p>
            <a:pPr indent="-32797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565"/>
              <a:buChar char="●"/>
            </a:pPr>
            <a:r>
              <a:rPr b="1" lang="en" sz="1565">
                <a:solidFill>
                  <a:srgbClr val="7F7F7F"/>
                </a:solidFill>
              </a:rPr>
              <a:t>Younger Adults </a:t>
            </a:r>
            <a:r>
              <a:rPr lang="en" sz="1565">
                <a:solidFill>
                  <a:srgbClr val="7F7F7F"/>
                </a:solidFill>
              </a:rPr>
              <a:t>(18-44): The COVID-era increase was roughly 1.5 times larger than the pre-COVID increase.</a:t>
            </a:r>
            <a:endParaRPr sz="1565">
              <a:solidFill>
                <a:srgbClr val="7F7F7F"/>
              </a:solidFill>
            </a:endParaRPr>
          </a:p>
          <a:p>
            <a:pPr indent="-3279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65"/>
              <a:buChar char="●"/>
            </a:pPr>
            <a:r>
              <a:rPr b="1" lang="en" sz="1565">
                <a:solidFill>
                  <a:srgbClr val="7F7F7F"/>
                </a:solidFill>
              </a:rPr>
              <a:t>55-64 Year Olds</a:t>
            </a:r>
            <a:r>
              <a:rPr lang="en" sz="1565">
                <a:solidFill>
                  <a:srgbClr val="7F7F7F"/>
                </a:solidFill>
              </a:rPr>
              <a:t>: Showed the largest COVID-era increase of all groups, but the smallest pre-COVID increase.</a:t>
            </a:r>
            <a:endParaRPr sz="1565">
              <a:solidFill>
                <a:srgbClr val="7F7F7F"/>
              </a:solidFill>
            </a:endParaRPr>
          </a:p>
          <a:p>
            <a:pPr indent="-3279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65"/>
              <a:buChar char="●"/>
            </a:pPr>
            <a:r>
              <a:rPr b="1" lang="en" sz="1565">
                <a:solidFill>
                  <a:srgbClr val="7F7F7F"/>
                </a:solidFill>
              </a:rPr>
              <a:t>65+ Year Olds</a:t>
            </a:r>
            <a:r>
              <a:rPr lang="en" sz="1565">
                <a:solidFill>
                  <a:srgbClr val="7F7F7F"/>
                </a:solidFill>
              </a:rPr>
              <a:t>: Exhibited decreases in both periods, with a larger decline during the COVID-era.</a:t>
            </a:r>
            <a:endParaRPr sz="1565"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824" y="1335400"/>
            <a:ext cx="4277601" cy="247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Race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02350" y="1152475"/>
            <a:ext cx="8125200" cy="3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7F7F7F"/>
                </a:solidFill>
              </a:rPr>
              <a:t>Method</a:t>
            </a:r>
            <a:r>
              <a:rPr lang="en" sz="1450">
                <a:solidFill>
                  <a:srgbClr val="7F7F7F"/>
                </a:solidFill>
              </a:rPr>
              <a:t>: Applied a difference-in-differences (DiD) framework to three intervals. For each racial/ethnic group, we calculated:</a:t>
            </a:r>
            <a:endParaRPr sz="1450">
              <a:solidFill>
                <a:srgbClr val="7F7F7F"/>
              </a:solidFill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50"/>
              <a:buFont typeface="Roboto"/>
              <a:buChar char="●"/>
            </a:pPr>
            <a:r>
              <a:rPr lang="en" sz="1450">
                <a:solidFill>
                  <a:srgbClr val="7F7F7F"/>
                </a:solidFill>
              </a:rPr>
              <a:t>Weighted mean obesity prevalence per interval.</a:t>
            </a:r>
            <a:endParaRPr sz="1450">
              <a:solidFill>
                <a:srgbClr val="7F7F7F"/>
              </a:solidFill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50"/>
              <a:buFont typeface="Source Sans Pro"/>
              <a:buChar char="●"/>
            </a:pPr>
            <a:r>
              <a:rPr lang="en" sz="1450">
                <a:solidFill>
                  <a:srgbClr val="7F7F7F"/>
                </a:solidFill>
              </a:rPr>
              <a:t>Two change scores: pre-COVID change and COVID-era change </a:t>
            </a:r>
            <a:endParaRPr sz="1450">
              <a:solidFill>
                <a:srgbClr val="7F7F7F"/>
              </a:solidFill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50"/>
              <a:buFont typeface="Source Sans Pro"/>
              <a:buChar char="●"/>
            </a:pPr>
            <a:r>
              <a:rPr b="1" lang="en" sz="1450">
                <a:solidFill>
                  <a:srgbClr val="7F7F7F"/>
                </a:solidFill>
              </a:rPr>
              <a:t>Statistical Assessment</a:t>
            </a:r>
            <a:r>
              <a:rPr lang="en" sz="1450">
                <a:solidFill>
                  <a:srgbClr val="7F7F7F"/>
                </a:solidFill>
              </a:rPr>
              <a:t>: Evaluated changes using standard errors and bootstrap confidence intervals.</a:t>
            </a:r>
            <a:endParaRPr b="1" sz="1637">
              <a:solidFill>
                <a:srgbClr val="7F7F7F"/>
              </a:solidFill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50"/>
              <a:buFont typeface="Source Sans Pro"/>
              <a:buChar char="●"/>
            </a:pPr>
            <a:r>
              <a:rPr b="1" lang="en" sz="1450">
                <a:solidFill>
                  <a:srgbClr val="7F7F7F"/>
                </a:solidFill>
              </a:rPr>
              <a:t>General Pattern</a:t>
            </a:r>
            <a:r>
              <a:rPr lang="en" sz="1450">
                <a:solidFill>
                  <a:srgbClr val="7F7F7F"/>
                </a:solidFill>
              </a:rPr>
              <a:t>: Most groups experienced very similar increases across both time periods, suggesting a consistent, underlying growth trend.</a:t>
            </a:r>
            <a:endParaRPr sz="1450"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2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Notable Exceptions to Race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39849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200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Source Sans Pro"/>
              <a:buChar char="●"/>
            </a:pPr>
            <a:r>
              <a:rPr b="1" lang="en" sz="1350">
                <a:solidFill>
                  <a:srgbClr val="7F7F7F"/>
                </a:solidFill>
              </a:rPr>
              <a:t>Hispanic Individuals:</a:t>
            </a:r>
            <a:r>
              <a:rPr lang="en" sz="1350">
                <a:solidFill>
                  <a:srgbClr val="7F7F7F"/>
                </a:solidFill>
              </a:rPr>
              <a:t> Experienced a modestly larger increase in both periods compared to other groups.</a:t>
            </a:r>
            <a:endParaRPr sz="1350">
              <a:solidFill>
                <a:srgbClr val="7F7F7F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Source Sans Pro"/>
              <a:buChar char="●"/>
            </a:pPr>
            <a:r>
              <a:rPr b="1" lang="en" sz="1350">
                <a:solidFill>
                  <a:srgbClr val="7F7F7F"/>
                </a:solidFill>
              </a:rPr>
              <a:t>Hawaiian/Pacific Islander Group</a:t>
            </a:r>
            <a:r>
              <a:rPr lang="en" sz="1350">
                <a:solidFill>
                  <a:srgbClr val="7F7F7F"/>
                </a:solidFill>
              </a:rPr>
              <a:t>:</a:t>
            </a:r>
            <a:endParaRPr sz="1350">
              <a:solidFill>
                <a:srgbClr val="7F7F7F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Source Sans Pro"/>
              <a:buAutoNum type="arabicPeriod"/>
            </a:pPr>
            <a:r>
              <a:rPr lang="en" sz="1350">
                <a:solidFill>
                  <a:srgbClr val="7F7F7F"/>
                </a:solidFill>
              </a:rPr>
              <a:t>Exhibited much higher absolute obesity levels and noticeably larger increases across both intervals.</a:t>
            </a:r>
            <a:endParaRPr sz="1350">
              <a:solidFill>
                <a:srgbClr val="7F7F7F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Source Sans Pro"/>
              <a:buAutoNum type="arabicPeriod"/>
            </a:pPr>
            <a:r>
              <a:rPr lang="en" sz="1350">
                <a:solidFill>
                  <a:srgbClr val="7F7F7F"/>
                </a:solidFill>
              </a:rPr>
              <a:t>Both change score bars were substantially taller, indicating higher baseline prevalence and steeper growth.</a:t>
            </a:r>
            <a:endParaRPr sz="1350">
              <a:solidFill>
                <a:srgbClr val="7F7F7F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Source Sans Pro"/>
              <a:buChar char="●"/>
            </a:pPr>
            <a:r>
              <a:rPr b="1" lang="en" sz="1350">
                <a:solidFill>
                  <a:srgbClr val="7F7F7F"/>
                </a:solidFill>
              </a:rPr>
              <a:t>Statistical Significance</a:t>
            </a:r>
            <a:r>
              <a:rPr lang="en" sz="1350">
                <a:solidFill>
                  <a:srgbClr val="7F7F7F"/>
                </a:solidFill>
              </a:rPr>
              <a:t>: Despite these observable patterns, none of the comparisons reached statistical significance.</a:t>
            </a:r>
            <a:endParaRPr sz="2000"/>
          </a:p>
        </p:txBody>
      </p:sp>
      <p:pic>
        <p:nvPicPr>
          <p:cNvPr id="187" name="Google Shape;187;p31" title="Screenshot 2025-12-01 at 4.28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425" y="1663237"/>
            <a:ext cx="4850325" cy="27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Obesity increased faster during the period leading into COVID-19 lockdowns compared to the pre-COVID interval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COVID-19 exacerbated obesity trends, OR obesity increases naturally follow a nonlinear (e.g., exponential) trajectory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Obesity consistently increases across all US states and territories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Future pandemics/lockdowns have more variable effects on obesity rates for lower-income individuals, while higher-income groups show fewer deviations compared to typical rates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Younger individuals show more consistent obesity trends, while older individuals have higher variations and show larger effects from COVID-19 lockdowns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Obesity trends and COVID-19 impacts are relatively similar across races/ethnicities, although Hawaiian/Pacific Islander have a much higher base rate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 future crises, more targeted nutritional aid should be provided to lower-income groups and elderly populations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More affordable and convenient nutritional and non-processed foods should be prioritized through government subsidies especially in times of crisis to bolster the health and wellbeing of Americans</a:t>
            </a: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99" name="Google Shape;199;p33"/>
          <p:cNvSpPr txBox="1"/>
          <p:nvPr/>
        </p:nvSpPr>
        <p:spPr>
          <a:xfrm>
            <a:off x="538375" y="1068425"/>
            <a:ext cx="8210100" cy="3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Stierman B, Afful J, Carroll MD, et al. National Health and Nutrition Examination Survey 2017–March 2020 </a:t>
            </a:r>
            <a:r>
              <a:rPr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 pandemic</a:t>
            </a:r>
            <a:r>
              <a:rPr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files development of files and prevalence estimates for selected health outcomes. Natl Health Stat Report. 2021;158.</a:t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Ward ZJ, Bleich S, Long MW, Gortmaker SL. Association of body mass index with health care expenditures in the United States by age and sex. PLoS One. 2021;16(3):e0247307. doi: 10.1371/journal.pone.0247307</a:t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 for Disease Control and Prevention. </a:t>
            </a:r>
            <a:r>
              <a:rPr i="1" lang="en" sz="12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Nutrition, Physical Activity, and Obesity: Behavioral Risk Factor Surveillance System</a:t>
            </a:r>
            <a:r>
              <a:rPr lang="en" sz="12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CDC, </a:t>
            </a:r>
            <a:r>
              <a:rPr lang="en" sz="1200">
                <a:solidFill>
                  <a:srgbClr val="7F7F7F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https://data.cdc.gov/Nutrition-Physical-Activity-and-Obesity/Nutrition-Physical-Activity-and-Obesity-Behavioral/hn4x-zwk7</a:t>
            </a:r>
            <a:r>
              <a:rPr lang="en" sz="12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